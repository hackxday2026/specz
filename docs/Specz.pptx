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3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965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DE6DF-64AD-0CF1-7A0B-B62390101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EE96D-F879-23F3-B3B2-BDD8B6FE9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6A5BE-64DD-A212-FA71-C225EE1990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F9016-977B-656F-143C-5D9A3C7411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8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9671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79094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17191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70622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56767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013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0323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32231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75506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67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29172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45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91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22E0D-83F7-F991-1A28-4676953E9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1CA701AA-78C6-4ACD-74B3-9424BD33A6BD}"/>
              </a:ext>
            </a:extLst>
          </p:cNvPr>
          <p:cNvSpPr/>
          <p:nvPr/>
        </p:nvSpPr>
        <p:spPr>
          <a:xfrm>
            <a:off x="82296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200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SPECZ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EF06500-0A2A-3417-D20F-30163ED52DA2}"/>
              </a:ext>
            </a:extLst>
          </p:cNvPr>
          <p:cNvSpPr/>
          <p:nvPr/>
        </p:nvSpPr>
        <p:spPr>
          <a:xfrm>
            <a:off x="689386" y="4782312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B4FA875-38F4-AFA5-6B45-F5C59B45BDD5}"/>
              </a:ext>
            </a:extLst>
          </p:cNvPr>
          <p:cNvSpPr/>
          <p:nvPr/>
        </p:nvSpPr>
        <p:spPr>
          <a:xfrm>
            <a:off x="868680" y="4160520"/>
            <a:ext cx="4572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D55E180-274A-EE98-2DEC-07B046AE6A3C}"/>
              </a:ext>
            </a:extLst>
          </p:cNvPr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A301D27-97A1-0504-CEA8-2AF8EBE3BD36}"/>
              </a:ext>
            </a:extLst>
          </p:cNvPr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330A26B-711C-337E-F5B9-99EF32563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37" y="754918"/>
            <a:ext cx="1447450" cy="1414739"/>
          </a:xfrm>
          <a:prstGeom prst="ellipse">
            <a:avLst/>
          </a:prstGeom>
        </p:spPr>
      </p:pic>
      <p:sp>
        <p:nvSpPr>
          <p:cNvPr id="16" name="Text 2">
            <a:extLst>
              <a:ext uri="{FF2B5EF4-FFF2-40B4-BE49-F238E27FC236}">
                <a16:creationId xmlns:a16="http://schemas.microsoft.com/office/drawing/2014/main" id="{50327FE7-EE6E-73E8-851F-8F6DBE787E3C}"/>
              </a:ext>
            </a:extLst>
          </p:cNvPr>
          <p:cNvSpPr/>
          <p:nvPr/>
        </p:nvSpPr>
        <p:spPr>
          <a:xfrm>
            <a:off x="822960" y="3614859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FE9E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Laptop Buying Assistant for Nepal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D7339-D42B-8E4A-BDB9-051E540AC68C}"/>
              </a:ext>
            </a:extLst>
          </p:cNvPr>
          <p:cNvSpPr txBox="1"/>
          <p:nvPr/>
        </p:nvSpPr>
        <p:spPr>
          <a:xfrm>
            <a:off x="868680" y="4377447"/>
            <a:ext cx="71469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 extension that helps Nepali shoppers compare laptops, normalize confusing specs, and get AI-driven buying advice — fast, local, and trustworthy.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52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0BD1D47-8217-8E46-3BCE-13D5265FC5C4}"/>
              </a:ext>
            </a:extLst>
          </p:cNvPr>
          <p:cNvSpPr txBox="1"/>
          <p:nvPr/>
        </p:nvSpPr>
        <p:spPr>
          <a:xfrm>
            <a:off x="2461098" y="1527243"/>
            <a:ext cx="76945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: SNACK OVERFLOW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39C27-8927-3D85-11DE-B69B3EBDCC0B}"/>
              </a:ext>
            </a:extLst>
          </p:cNvPr>
          <p:cNvSpPr txBox="1"/>
          <p:nvPr/>
        </p:nvSpPr>
        <p:spPr>
          <a:xfrm>
            <a:off x="3696511" y="2551837"/>
            <a:ext cx="394942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Bikash Chaudhary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Priya Dangol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Reshma Shrestha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Teaongsi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Angdembe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E7AAFF-536A-ADE3-3544-AE0A20AFA091}"/>
              </a:ext>
            </a:extLst>
          </p:cNvPr>
          <p:cNvSpPr txBox="1"/>
          <p:nvPr/>
        </p:nvSpPr>
        <p:spPr>
          <a:xfrm>
            <a:off x="391538" y="6337730"/>
            <a:ext cx="60943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00" i="1" dirty="0" err="1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A1CBDED-E695-E71F-34D2-ADE2E980BB63}"/>
              </a:ext>
            </a:extLst>
          </p:cNvPr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Problem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Buying a laptop in Nepal today is guesswork, not decision-making.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8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assets/price_t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Prices vary wildly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same laptop can differ drastically in price across Nepali stores.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7220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8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assets/confus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825" y="2257425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2926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Inconsistent titles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446520" y="32918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Confusing, non-standard product names make listings hard to trust.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8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914400" y="443484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assets/comp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8705" y="4577715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5257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Specs, not comparable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14400" y="5623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Users can't easily compare specs side-by-side to judge value.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8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446520" y="443484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3" descr="assets/therm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647" y="457771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46520" y="5257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Hidden issues ignored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446520" y="5623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Thermal performance and battery health rarely get flagged upfront.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600200" y="2468880"/>
            <a:ext cx="1371600" cy="1371600"/>
          </a:xfrm>
          <a:prstGeom prst="ellipse">
            <a:avLst/>
          </a:prstGeom>
          <a:solidFill>
            <a:srgbClr val="023436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40233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Specz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Browser Extension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09160" y="54864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Solution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709160" y="1864798"/>
            <a:ext cx="640080" cy="64008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assets/de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178" y="2008816"/>
            <a:ext cx="352044" cy="3520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875695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Auto-detects product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532120" y="219573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Recognizes the laptop you're viewing on any store page instantly.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709160" y="2914408"/>
            <a:ext cx="640080" cy="64008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assets/price_t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178" y="3058426"/>
            <a:ext cx="352044" cy="3520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28961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Compares prices across stores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532120" y="32161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Pulls prices from multiple Nepali retailers for a real comparison.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588553" y="392078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Gives smart buying advice</a:t>
            </a:r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5623560" y="424441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Delivers an AI-backend recommendation on real value for money.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F6A2EB6-87FC-ABEA-0D12-018E8A75DD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2468880"/>
            <a:ext cx="1371600" cy="1371600"/>
          </a:xfrm>
          <a:prstGeom prst="ellipse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08D5A63-E55D-5C0A-DFDE-03CD4E19A77C}"/>
              </a:ext>
            </a:extLst>
          </p:cNvPr>
          <p:cNvSpPr txBox="1"/>
          <p:nvPr/>
        </p:nvSpPr>
        <p:spPr>
          <a:xfrm>
            <a:off x="4965193" y="1143000"/>
            <a:ext cx="6766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Seamlessly integrates in the browser to detect products, normalize specs with AI, and show side‑by‑side comparisons across Nepali stores with actionable buying guidance.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0C7AD10-8044-1D79-7E0C-BC0427D46A24}"/>
              </a:ext>
            </a:extLst>
          </p:cNvPr>
          <p:cNvGrpSpPr/>
          <p:nvPr/>
        </p:nvGrpSpPr>
        <p:grpSpPr>
          <a:xfrm>
            <a:off x="4709160" y="4069080"/>
            <a:ext cx="640080" cy="640080"/>
            <a:chOff x="4709160" y="5120640"/>
            <a:chExt cx="640080" cy="640080"/>
          </a:xfrm>
        </p:grpSpPr>
        <p:sp>
          <p:nvSpPr>
            <p:cNvPr id="31" name="Shape 14"/>
            <p:cNvSpPr/>
            <p:nvPr/>
          </p:nvSpPr>
          <p:spPr>
            <a:xfrm>
              <a:off x="4709160" y="5120640"/>
              <a:ext cx="640080" cy="64008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/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Image 4" descr="assets/advic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12614" y="5264658"/>
              <a:ext cx="352044" cy="3520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Product Demo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extension popup at work on a live product page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Key</a:t>
            </a:r>
            <a:r>
              <a:rPr lang="en-US" sz="34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 </a:t>
            </a:r>
            <a:r>
              <a:rPr lang="en-US" sz="3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Features</a:t>
            </a:r>
            <a:endParaRPr lang="en-US" sz="3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084832" cy="3566160"/>
          </a:xfrm>
          <a:prstGeom prst="roundRect">
            <a:avLst>
              <a:gd name="adj" fmla="val 350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1EB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293876" y="1920240"/>
            <a:ext cx="777240" cy="77724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assets/mat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755" y="209511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926080"/>
            <a:ext cx="17556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AI Smart Matcher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04672" y="361188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Matches identical products across listings and stores.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5EC3401-7870-C45A-2749-9A84AC2616A6}"/>
              </a:ext>
            </a:extLst>
          </p:cNvPr>
          <p:cNvGrpSpPr/>
          <p:nvPr/>
        </p:nvGrpSpPr>
        <p:grpSpPr>
          <a:xfrm>
            <a:off x="3712464" y="1554480"/>
            <a:ext cx="2084832" cy="3566160"/>
            <a:chOff x="2944368" y="1554480"/>
            <a:chExt cx="2084832" cy="3566160"/>
          </a:xfrm>
        </p:grpSpPr>
        <p:sp>
          <p:nvSpPr>
            <p:cNvPr id="8" name="Shape 5"/>
            <p:cNvSpPr/>
            <p:nvPr/>
          </p:nvSpPr>
          <p:spPr>
            <a:xfrm>
              <a:off x="2944368" y="1554480"/>
              <a:ext cx="2084832" cy="3566160"/>
            </a:xfrm>
            <a:prstGeom prst="roundRect">
              <a:avLst>
                <a:gd name="adj" fmla="val 3509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E1EBE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Shape 6"/>
            <p:cNvSpPr/>
            <p:nvPr/>
          </p:nvSpPr>
          <p:spPr>
            <a:xfrm>
              <a:off x="3598164" y="1920240"/>
              <a:ext cx="777240" cy="77724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" name="Image 1" descr="assets/cheapes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3043" y="2095119"/>
              <a:ext cx="427482" cy="427482"/>
            </a:xfrm>
            <a:prstGeom prst="rect">
              <a:avLst/>
            </a:prstGeom>
          </p:spPr>
        </p:pic>
        <p:sp>
          <p:nvSpPr>
            <p:cNvPr id="11" name="Text 7"/>
            <p:cNvSpPr/>
            <p:nvPr/>
          </p:nvSpPr>
          <p:spPr>
            <a:xfrm>
              <a:off x="3108960" y="292608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3272A"/>
                  </a:solidFill>
                  <a:latin typeface="Times New Roman" panose="02020603050405020304" pitchFamily="18" charset="0"/>
                  <a:ea typeface="Cambria" pitchFamily="34" charset="-122"/>
                  <a:cs typeface="Times New Roman" panose="02020603050405020304" pitchFamily="18" charset="0"/>
                </a:rPr>
                <a:t>Cheapest Price Detection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3108960" y="3611880"/>
              <a:ext cx="1755648" cy="1280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7A7D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Surfaces the lowest verified price automatically.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49FCE4F-92FE-CBD3-4669-C3FB8784C2D9}"/>
              </a:ext>
            </a:extLst>
          </p:cNvPr>
          <p:cNvGrpSpPr/>
          <p:nvPr/>
        </p:nvGrpSpPr>
        <p:grpSpPr>
          <a:xfrm>
            <a:off x="6784848" y="1554480"/>
            <a:ext cx="2084832" cy="3566160"/>
            <a:chOff x="5248656" y="1554480"/>
            <a:chExt cx="2084832" cy="3566160"/>
          </a:xfrm>
        </p:grpSpPr>
        <p:sp>
          <p:nvSpPr>
            <p:cNvPr id="13" name="Shape 9"/>
            <p:cNvSpPr/>
            <p:nvPr/>
          </p:nvSpPr>
          <p:spPr>
            <a:xfrm>
              <a:off x="5248656" y="1554480"/>
              <a:ext cx="2084832" cy="3566160"/>
            </a:xfrm>
            <a:prstGeom prst="roundRect">
              <a:avLst>
                <a:gd name="adj" fmla="val 3509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E1EBE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F47B39B-2385-B9FB-D6D7-62D0B2DDD5CE}"/>
                </a:ext>
              </a:extLst>
            </p:cNvPr>
            <p:cNvGrpSpPr/>
            <p:nvPr/>
          </p:nvGrpSpPr>
          <p:grpSpPr>
            <a:xfrm>
              <a:off x="5413248" y="1920240"/>
              <a:ext cx="1755648" cy="2971800"/>
              <a:chOff x="5413248" y="1920240"/>
              <a:chExt cx="1755648" cy="2971800"/>
            </a:xfrm>
          </p:grpSpPr>
          <p:sp>
            <p:nvSpPr>
              <p:cNvPr id="14" name="Shape 10"/>
              <p:cNvSpPr/>
              <p:nvPr/>
            </p:nvSpPr>
            <p:spPr>
              <a:xfrm>
                <a:off x="5902452" y="1920240"/>
                <a:ext cx="777240" cy="777240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/>
            </p:spPr>
            <p:txBody>
              <a:bodyPr/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5" name="Image 2" descr="assets/valu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77331" y="2095119"/>
                <a:ext cx="427482" cy="427482"/>
              </a:xfrm>
              <a:prstGeom prst="rect">
                <a:avLst/>
              </a:prstGeom>
            </p:spPr>
          </p:pic>
          <p:sp>
            <p:nvSpPr>
              <p:cNvPr id="16" name="Text 11"/>
              <p:cNvSpPr/>
              <p:nvPr/>
            </p:nvSpPr>
            <p:spPr>
              <a:xfrm>
                <a:off x="5413248" y="2926080"/>
                <a:ext cx="1755648" cy="6400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13272A"/>
                    </a:solidFill>
                    <a:latin typeface="Times New Roman" panose="02020603050405020304" pitchFamily="18" charset="0"/>
                    <a:ea typeface="Cambria" pitchFamily="34" charset="-122"/>
                    <a:cs typeface="Times New Roman" panose="02020603050405020304" pitchFamily="18" charset="0"/>
                  </a:rPr>
                  <a:t>Value Analysis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 12"/>
              <p:cNvSpPr/>
              <p:nvPr/>
            </p:nvSpPr>
            <p:spPr>
              <a:xfrm>
                <a:off x="5413248" y="3611880"/>
                <a:ext cx="1755648" cy="12801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ctr">
                  <a:buNone/>
                </a:pPr>
                <a:r>
                  <a:rPr lang="en-US" sz="1050" dirty="0">
                    <a:solidFill>
                      <a:srgbClr val="5C7A7D"/>
                    </a:solidFill>
                    <a:latin typeface="Times New Roman" panose="02020603050405020304" pitchFamily="18" charset="0"/>
                    <a:ea typeface="Calibri" pitchFamily="34" charset="-122"/>
                    <a:cs typeface="Times New Roman" panose="02020603050405020304" pitchFamily="18" charset="0"/>
                  </a:rPr>
                  <a:t>Scores value for money for laptops.</a:t>
                </a:r>
                <a:endParaRPr lang="en-US" sz="10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9D56D8F-EC40-F9A9-674D-691DB8C8F666}"/>
              </a:ext>
            </a:extLst>
          </p:cNvPr>
          <p:cNvGrpSpPr/>
          <p:nvPr/>
        </p:nvGrpSpPr>
        <p:grpSpPr>
          <a:xfrm>
            <a:off x="9643491" y="1554480"/>
            <a:ext cx="2084832" cy="3566160"/>
            <a:chOff x="9857232" y="1554480"/>
            <a:chExt cx="2084832" cy="3566160"/>
          </a:xfrm>
        </p:grpSpPr>
        <p:sp>
          <p:nvSpPr>
            <p:cNvPr id="23" name="Shape 17"/>
            <p:cNvSpPr/>
            <p:nvPr/>
          </p:nvSpPr>
          <p:spPr>
            <a:xfrm>
              <a:off x="9857232" y="1554480"/>
              <a:ext cx="2084832" cy="3566160"/>
            </a:xfrm>
            <a:prstGeom prst="roundRect">
              <a:avLst>
                <a:gd name="adj" fmla="val 3509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E1EBEA"/>
              </a:solidFill>
              <a:prstDash val="solid"/>
            </a:ln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Shape 18"/>
            <p:cNvSpPr/>
            <p:nvPr/>
          </p:nvSpPr>
          <p:spPr>
            <a:xfrm>
              <a:off x="10511028" y="1920240"/>
              <a:ext cx="777240" cy="777240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/>
          </p:spPr>
          <p:txBody>
            <a:bodyPr/>
            <a:lstStyle/>
            <a:p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5" name="Image 4" descr="assets/wishlist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85907" y="2095119"/>
              <a:ext cx="427482" cy="427482"/>
            </a:xfrm>
            <a:prstGeom prst="rect">
              <a:avLst/>
            </a:prstGeom>
          </p:spPr>
        </p:pic>
        <p:sp>
          <p:nvSpPr>
            <p:cNvPr id="26" name="Text 19"/>
            <p:cNvSpPr/>
            <p:nvPr/>
          </p:nvSpPr>
          <p:spPr>
            <a:xfrm>
              <a:off x="10021824" y="292608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3272A"/>
                  </a:solidFill>
                  <a:latin typeface="Times New Roman" panose="02020603050405020304" pitchFamily="18" charset="0"/>
                  <a:ea typeface="Cambria" pitchFamily="34" charset="-122"/>
                  <a:cs typeface="Times New Roman" panose="02020603050405020304" pitchFamily="18" charset="0"/>
                </a:rPr>
                <a:t>Wishlist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Text 20"/>
            <p:cNvSpPr/>
            <p:nvPr/>
          </p:nvSpPr>
          <p:spPr>
            <a:xfrm>
              <a:off x="10021824" y="3611880"/>
              <a:ext cx="1755648" cy="1280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5C7A7D"/>
                  </a:solidFill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Track laptops and get notified when prices drop.</a:t>
              </a:r>
              <a:endParaRPr lang="en-US" sz="10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Text 21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How It Works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page load to purchase decision in five steps.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48740" y="3268980"/>
            <a:ext cx="9491472" cy="0"/>
          </a:xfrm>
          <a:prstGeom prst="line">
            <a:avLst/>
          </a:prstGeom>
          <a:noFill/>
          <a:ln w="25400">
            <a:solidFill>
              <a:srgbClr val="CFE4E2"/>
            </a:solidFill>
            <a:prstDash val="dash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1051560" cy="10515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assets/step_extr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561" y="2979801"/>
            <a:ext cx="578358" cy="57835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63624" y="2651760"/>
            <a:ext cx="365760" cy="365760"/>
          </a:xfrm>
          <a:prstGeom prst="ellipse">
            <a:avLst/>
          </a:prstGeom>
          <a:solidFill>
            <a:srgbClr val="02343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63624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4023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Extract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2860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Pull product data from the page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195828" y="2743200"/>
            <a:ext cx="1051560" cy="10515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assets/step_normal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429" y="2979801"/>
            <a:ext cx="578358" cy="57835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936492" y="2651760"/>
            <a:ext cx="365760" cy="365760"/>
          </a:xfrm>
          <a:prstGeom prst="ellipse">
            <a:avLst/>
          </a:prstGeom>
          <a:solidFill>
            <a:srgbClr val="02343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936492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2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2738628" y="4023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Normalize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2601468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specs 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568696" y="2743200"/>
            <a:ext cx="1051560" cy="10515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2" descr="assets/step_m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297" y="2979801"/>
            <a:ext cx="578358" cy="57835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309360" y="2651760"/>
            <a:ext cx="365760" cy="365760"/>
          </a:xfrm>
          <a:prstGeom prst="ellipse">
            <a:avLst/>
          </a:prstGeom>
          <a:solidFill>
            <a:srgbClr val="02343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3093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3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111496" y="4023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Match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4974336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Find it across stores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7941564" y="2743200"/>
            <a:ext cx="1051560" cy="105156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 3" descr="assets/step_analyz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165" y="2979801"/>
            <a:ext cx="578358" cy="57835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682228" y="2651760"/>
            <a:ext cx="365760" cy="365760"/>
          </a:xfrm>
          <a:prstGeom prst="ellipse">
            <a:avLst/>
          </a:prstGeom>
          <a:solidFill>
            <a:srgbClr val="02343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8682228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4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1"/>
          <p:cNvSpPr/>
          <p:nvPr/>
        </p:nvSpPr>
        <p:spPr>
          <a:xfrm>
            <a:off x="7484364" y="4023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Analyze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2"/>
          <p:cNvSpPr/>
          <p:nvPr/>
        </p:nvSpPr>
        <p:spPr>
          <a:xfrm>
            <a:off x="7347204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 real value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3"/>
          <p:cNvSpPr/>
          <p:nvPr/>
        </p:nvSpPr>
        <p:spPr>
          <a:xfrm>
            <a:off x="10314432" y="2743200"/>
            <a:ext cx="1051560" cy="105156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4" descr="assets/step_disp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1033" y="2979801"/>
            <a:ext cx="578358" cy="57835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11055096" y="2651760"/>
            <a:ext cx="365760" cy="365760"/>
          </a:xfrm>
          <a:prstGeom prst="ellipse">
            <a:avLst/>
          </a:prstGeom>
          <a:solidFill>
            <a:srgbClr val="02343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5"/>
          <p:cNvSpPr/>
          <p:nvPr/>
        </p:nvSpPr>
        <p:spPr>
          <a:xfrm>
            <a:off x="11055096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9857232" y="40233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Display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9720072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 clear insights</a:t>
            </a: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2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D1D124-93CC-957B-CFA9-D15C0AE8F600}"/>
              </a:ext>
            </a:extLst>
          </p:cNvPr>
          <p:cNvSpPr txBox="1"/>
          <p:nvPr/>
        </p:nvSpPr>
        <p:spPr>
          <a:xfrm>
            <a:off x="640080" y="5661498"/>
            <a:ext cx="7881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Behind the scenes: lightweight client-side extraction + secure API calls to AI and store-matching services — optimized for speed and privacy.</a:t>
            </a:r>
          </a:p>
          <a:p>
            <a:endParaRPr 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Tech Stack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Lightweight, modern, and built to ship fast.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2133551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assets/chr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05" y="2257425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76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Chrome Extension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on Manifest V3 for speed and security.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59398" y="416052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783080" y="45079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HTML, CSS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14400" y="530352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500284" y="411480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74604" y="438912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3" descr="assets/sto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909" y="4543425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43284" y="4462272"/>
            <a:ext cx="178988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chrome.storage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774604" y="5257800"/>
            <a:ext cx="29893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Persists wishlist and user preferences locally.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23560" y="213055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Groq API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54880" y="2926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Powers spec normalization and AI recommendations.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261C0DB-B373-BC90-D042-E49091F534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786312" y="2034540"/>
            <a:ext cx="622935" cy="640081"/>
          </a:xfrm>
          <a:prstGeom prst="ellipse">
            <a:avLst/>
          </a:prstGeom>
        </p:spPr>
      </p:pic>
      <p:sp>
        <p:nvSpPr>
          <p:cNvPr id="40" name="Shape 6">
            <a:extLst>
              <a:ext uri="{FF2B5EF4-FFF2-40B4-BE49-F238E27FC236}">
                <a16:creationId xmlns:a16="http://schemas.microsoft.com/office/drawing/2014/main" id="{C92FEC6A-A4E8-0AE2-674A-67093ACEF8EA}"/>
              </a:ext>
            </a:extLst>
          </p:cNvPr>
          <p:cNvSpPr/>
          <p:nvPr/>
        </p:nvSpPr>
        <p:spPr>
          <a:xfrm>
            <a:off x="8261032" y="1782391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3DAE019B-DBF0-6DBE-63C7-C5C86670F03D}"/>
              </a:ext>
            </a:extLst>
          </p:cNvPr>
          <p:cNvSpPr/>
          <p:nvPr/>
        </p:nvSpPr>
        <p:spPr>
          <a:xfrm>
            <a:off x="9189719" y="2129863"/>
            <a:ext cx="254203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Playwright and Chromium Scraping</a:t>
            </a: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B6666FAC-F820-37F7-E4DD-1CEB71B0C9B9}"/>
              </a:ext>
            </a:extLst>
          </p:cNvPr>
          <p:cNvSpPr/>
          <p:nvPr/>
        </p:nvSpPr>
        <p:spPr>
          <a:xfrm>
            <a:off x="8535352" y="2925391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web data extraction from e-commerce websites</a:t>
            </a:r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0FC5BCBD-4006-7ABF-55AB-EBADDE44CF7A}"/>
              </a:ext>
            </a:extLst>
          </p:cNvPr>
          <p:cNvSpPr/>
          <p:nvPr/>
        </p:nvSpPr>
        <p:spPr>
          <a:xfrm>
            <a:off x="8340764" y="4114800"/>
            <a:ext cx="356616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C9758256-CBAB-9B65-7DB4-CD88C034B19C}"/>
              </a:ext>
            </a:extLst>
          </p:cNvPr>
          <p:cNvSpPr/>
          <p:nvPr/>
        </p:nvSpPr>
        <p:spPr>
          <a:xfrm>
            <a:off x="9483764" y="446227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Node.JS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0FFD598C-60DD-37B7-FDA9-00BC02C9A777}"/>
              </a:ext>
            </a:extLst>
          </p:cNvPr>
          <p:cNvSpPr/>
          <p:nvPr/>
        </p:nvSpPr>
        <p:spPr>
          <a:xfrm>
            <a:off x="8615084" y="5257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 runtime for backend development</a:t>
            </a:r>
            <a:endParaRPr lang="en-US" sz="115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C32F1512-B758-1E2D-AD78-487E685D6DFA}"/>
              </a:ext>
            </a:extLst>
          </p:cNvPr>
          <p:cNvSpPr/>
          <p:nvPr/>
        </p:nvSpPr>
        <p:spPr>
          <a:xfrm>
            <a:off x="822960" y="4402836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FD13535A-0E19-F36A-071C-8786CDD0A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45" y="4558028"/>
            <a:ext cx="432030" cy="43203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6A4445B-DC5A-D025-599F-E0EEDCF0D28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710" r="10886"/>
          <a:stretch>
            <a:fillRect/>
          </a:stretch>
        </p:blipFill>
        <p:spPr>
          <a:xfrm>
            <a:off x="8586691" y="4335764"/>
            <a:ext cx="640080" cy="635811"/>
          </a:xfrm>
          <a:prstGeom prst="ellipse">
            <a:avLst/>
          </a:prstGeom>
        </p:spPr>
      </p:pic>
      <p:sp>
        <p:nvSpPr>
          <p:cNvPr id="57" name="Shape 15">
            <a:extLst>
              <a:ext uri="{FF2B5EF4-FFF2-40B4-BE49-F238E27FC236}">
                <a16:creationId xmlns:a16="http://schemas.microsoft.com/office/drawing/2014/main" id="{C8F2EA1D-043F-011A-7D07-B34F8C74AA50}"/>
              </a:ext>
            </a:extLst>
          </p:cNvPr>
          <p:cNvSpPr/>
          <p:nvPr/>
        </p:nvSpPr>
        <p:spPr>
          <a:xfrm>
            <a:off x="8445444" y="2077990"/>
            <a:ext cx="685800" cy="685800"/>
          </a:xfrm>
          <a:prstGeom prst="ellipse">
            <a:avLst/>
          </a:prstGeom>
          <a:solidFill>
            <a:srgbClr val="F9FAFB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US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EAA874B-23FE-49B6-A81A-E331D22827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5444" y="2096479"/>
            <a:ext cx="685800" cy="6858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AA16D3E-2F35-2D14-1787-0973244CF6FB}"/>
              </a:ext>
            </a:extLst>
          </p:cNvPr>
          <p:cNvSpPr txBox="1"/>
          <p:nvPr/>
        </p:nvSpPr>
        <p:spPr>
          <a:xfrm>
            <a:off x="822960" y="5266944"/>
            <a:ext cx="3247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200" b="1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interface styling</a:t>
            </a:r>
            <a:endParaRPr lang="en-US" alt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">
            <a:extLst>
              <a:ext uri="{FF2B5EF4-FFF2-40B4-BE49-F238E27FC236}">
                <a16:creationId xmlns:a16="http://schemas.microsoft.com/office/drawing/2014/main" id="{5C8729EF-9963-4647-25E1-D686CDFF0D3D}"/>
              </a:ext>
            </a:extLst>
          </p:cNvPr>
          <p:cNvSpPr/>
          <p:nvPr/>
        </p:nvSpPr>
        <p:spPr>
          <a:xfrm>
            <a:off x="8336279" y="1463040"/>
            <a:ext cx="3154680" cy="3566160"/>
          </a:xfrm>
          <a:prstGeom prst="roundRect">
            <a:avLst>
              <a:gd name="adj" fmla="val 350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1EB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9F42925A-C5C7-23D6-E60B-71014DB19D39}"/>
              </a:ext>
            </a:extLst>
          </p:cNvPr>
          <p:cNvSpPr/>
          <p:nvPr/>
        </p:nvSpPr>
        <p:spPr>
          <a:xfrm>
            <a:off x="4572000" y="1519518"/>
            <a:ext cx="3154680" cy="3566160"/>
          </a:xfrm>
          <a:prstGeom prst="roundRect">
            <a:avLst>
              <a:gd name="adj" fmla="val 350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1EB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B7CC4649-7716-5D19-5DEB-3C68B74A2836}"/>
              </a:ext>
            </a:extLst>
          </p:cNvPr>
          <p:cNvSpPr/>
          <p:nvPr/>
        </p:nvSpPr>
        <p:spPr>
          <a:xfrm>
            <a:off x="807721" y="1600200"/>
            <a:ext cx="3154680" cy="3566160"/>
          </a:xfrm>
          <a:prstGeom prst="roundRect">
            <a:avLst>
              <a:gd name="adj" fmla="val 3509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E1EB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Market Impact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897380" y="1965960"/>
            <a:ext cx="914400" cy="9144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asset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21945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154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Nepali Tech Buyers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240" y="3657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Directly targets a fast-growing, price-conscious market segment.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692140" y="1965960"/>
            <a:ext cx="914400" cy="9144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assets/st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1945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34840" y="3154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Multi-Store Coverage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572000" y="3657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Works across Daraz, ITTI, Evostore and Hukut from a single popup.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9486900" y="1965960"/>
            <a:ext cx="914400" cy="9144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assets/transpar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21945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0" y="3154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Real Transparency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366760" y="3657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Solves a genuine trust and information gap in local e-commerce.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9</a:t>
            </a:r>
            <a:endParaRPr 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Scope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Best time to Buy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32918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I buy now or when?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172200" y="182880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825" y="2257425"/>
            <a:ext cx="377190" cy="3771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46520" y="2926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Price History Tracking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46520" y="32918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 trends so buyers know when a price is genuinely good.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14400" y="443484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assets/monetiz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05" y="4589145"/>
            <a:ext cx="377190" cy="3771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5257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Affiliate Monetization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14400" y="5623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Sustainable revenue through store partnerships.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172200" y="4160520"/>
            <a:ext cx="5074920" cy="1965960"/>
          </a:xfrm>
          <a:prstGeom prst="roundRect">
            <a:avLst>
              <a:gd name="adj" fmla="val 3721"/>
            </a:avLst>
          </a:prstGeom>
          <a:solidFill>
            <a:schemeClr val="bg1">
              <a:lumMod val="75000"/>
            </a:schemeClr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446520" y="4434840"/>
            <a:ext cx="685800" cy="68580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646" y="4589145"/>
            <a:ext cx="377190" cy="3771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46520" y="5257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72A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Mobile App Version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446520" y="56235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7A7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Bring the same insights to on-the-go shoppers.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Specz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27" name="Image 1" descr="assets/stores.png">
            <a:extLst>
              <a:ext uri="{FF2B5EF4-FFF2-40B4-BE49-F238E27FC236}">
                <a16:creationId xmlns:a16="http://schemas.microsoft.com/office/drawing/2014/main" id="{6ACAD7E1-688A-7016-9038-4A3894A80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2271712"/>
            <a:ext cx="394335" cy="3943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371600" y="283464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“Don’t just buy cheaper.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Buy smarter.”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371600" y="4709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Specz — AI-Powered Laptop Buying Assistant for Nepal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Specz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26DF1A-BBF5-7A59-3F69-451D3CE81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277" y="1287666"/>
            <a:ext cx="1348857" cy="1318374"/>
          </a:xfrm>
          <a:prstGeom prst="ellipse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483</TotalTime>
  <Words>520</Words>
  <Application>Microsoft Office PowerPoint</Application>
  <PresentationFormat>Widescreen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Bikash Chaudhary</cp:lastModifiedBy>
  <cp:revision>9</cp:revision>
  <dcterms:created xsi:type="dcterms:W3CDTF">2026-07-24T03:57:25Z</dcterms:created>
  <dcterms:modified xsi:type="dcterms:W3CDTF">2026-07-24T12:03:10Z</dcterms:modified>
</cp:coreProperties>
</file>